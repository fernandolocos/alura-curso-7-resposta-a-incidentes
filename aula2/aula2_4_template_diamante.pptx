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643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 err="1"/>
              <a:t>Modelo</a:t>
            </a:r>
            <a:r>
              <a:rPr dirty="0"/>
              <a:t> Diamante de </a:t>
            </a:r>
            <a:r>
              <a:rPr dirty="0" err="1"/>
              <a:t>Análise</a:t>
            </a:r>
            <a:r>
              <a:rPr dirty="0"/>
              <a:t> de </a:t>
            </a:r>
            <a:r>
              <a:rPr dirty="0" err="1"/>
              <a:t>Intrusão</a:t>
            </a:r>
            <a:endParaRPr dirty="0"/>
          </a:p>
          <a:p>
            <a:pPr algn="ctr">
              <a:defRPr sz="1800">
                <a:solidFill>
                  <a:srgbClr val="BBCCDD"/>
                </a:solidFill>
              </a:defRPr>
            </a:pPr>
            <a:r>
              <a:rPr dirty="0" err="1"/>
              <a:t>Preencha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4 </a:t>
            </a:r>
            <a:r>
              <a:rPr dirty="0" err="1"/>
              <a:t>vértices</a:t>
            </a:r>
            <a:r>
              <a:rPr dirty="0"/>
              <a:t> com as </a:t>
            </a:r>
            <a:r>
              <a:rPr dirty="0" err="1"/>
              <a:t>informações</a:t>
            </a:r>
            <a:r>
              <a:rPr dirty="0"/>
              <a:t> do </a:t>
            </a:r>
            <a:r>
              <a:rPr dirty="0" err="1"/>
              <a:t>cenário</a:t>
            </a:r>
            <a:r>
              <a:rPr dirty="0"/>
              <a:t> </a:t>
            </a:r>
            <a:r>
              <a:rPr dirty="0" err="1"/>
              <a:t>DevTech</a:t>
            </a:r>
            <a:r>
              <a:rPr dirty="0"/>
              <a:t>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Curso de SOC - Resposta a Incidentes | Instrutor: Fernando Costa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3A5C"/>
                </a:solidFill>
              </a:defRPr>
            </a:pPr>
            <a:r>
              <a:t>MODELO DIAMANTE - DEV TECH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Preencha cada vértice com as informações do ataque. Se algo for desconhecido, escreva DESCONHECIDO.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4704" y="1371600"/>
            <a:ext cx="2743200" cy="10972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ADVERSÁRIO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(Adversary)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705" y="2713809"/>
            <a:ext cx="361593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999999"/>
                </a:solidFill>
              </a:defRPr>
            </a:pPr>
            <a:r>
              <a:rPr dirty="0"/>
              <a:t>• </a:t>
            </a:r>
            <a:r>
              <a:rPr dirty="0" err="1"/>
              <a:t>Quem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atacando</a:t>
            </a:r>
            <a:r>
              <a:rPr dirty="0"/>
              <a:t>?</a:t>
            </a:r>
          </a:p>
          <a:p>
            <a:pPr>
              <a:defRPr sz="1100">
                <a:solidFill>
                  <a:srgbClr val="999999"/>
                </a:solidFill>
              </a:defRPr>
            </a:pPr>
            <a:r>
              <a:rPr dirty="0"/>
              <a:t>• País, </a:t>
            </a:r>
            <a:r>
              <a:rPr dirty="0" err="1"/>
              <a:t>grupo</a:t>
            </a:r>
            <a:r>
              <a:rPr dirty="0"/>
              <a:t>, </a:t>
            </a:r>
            <a:r>
              <a:rPr dirty="0" err="1"/>
              <a:t>concorrente</a:t>
            </a:r>
            <a:r>
              <a:rPr dirty="0"/>
              <a:t>, insider?</a:t>
            </a:r>
          </a:p>
          <a:p>
            <a:pPr>
              <a:defRPr sz="1100">
                <a:solidFill>
                  <a:srgbClr val="999999"/>
                </a:solidFill>
              </a:defRPr>
            </a:pPr>
            <a:r>
              <a:rPr dirty="0"/>
              <a:t>• Se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souber</a:t>
            </a:r>
            <a:r>
              <a:rPr dirty="0"/>
              <a:t>, </a:t>
            </a:r>
            <a:r>
              <a:rPr dirty="0" err="1"/>
              <a:t>escreva</a:t>
            </a:r>
            <a:r>
              <a:rPr dirty="0"/>
              <a:t> DESCONHECIDO + </a:t>
            </a:r>
            <a:r>
              <a:rPr dirty="0" err="1"/>
              <a:t>inferências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2743200" cy="1097280"/>
          </a:xfrm>
          <a:prstGeom prst="roundRect">
            <a:avLst/>
          </a:prstGeom>
          <a:solidFill>
            <a:srgbClr val="4D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INFRAESTRUTURA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(Infrastructure)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7024" y="4421777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999999"/>
                </a:solidFill>
              </a:defRPr>
            </a:pPr>
            <a:r>
              <a:rPr dirty="0"/>
              <a:t>• IPs, </a:t>
            </a:r>
            <a:r>
              <a:rPr dirty="0" err="1"/>
              <a:t>domínios</a:t>
            </a:r>
            <a:r>
              <a:rPr dirty="0"/>
              <a:t>, </a:t>
            </a:r>
            <a:r>
              <a:rPr dirty="0" err="1"/>
              <a:t>servidores</a:t>
            </a:r>
            <a:endParaRPr dirty="0"/>
          </a:p>
          <a:p>
            <a:pPr>
              <a:defRPr sz="1100">
                <a:solidFill>
                  <a:srgbClr val="999999"/>
                </a:solidFill>
              </a:defRPr>
            </a:pPr>
            <a:r>
              <a:rPr dirty="0"/>
              <a:t>• C2, phishing, VPN </a:t>
            </a:r>
            <a:r>
              <a:rPr dirty="0" err="1"/>
              <a:t>usada</a:t>
            </a:r>
            <a:endParaRPr dirty="0"/>
          </a:p>
          <a:p>
            <a:pPr>
              <a:defRPr sz="1100">
                <a:solidFill>
                  <a:srgbClr val="999999"/>
                </a:solidFill>
              </a:defRPr>
            </a:pPr>
            <a:r>
              <a:rPr dirty="0"/>
              <a:t>• Portas e </a:t>
            </a:r>
            <a:r>
              <a:rPr dirty="0" err="1"/>
              <a:t>protocolos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991295" y="3200400"/>
            <a:ext cx="2743200" cy="1097280"/>
          </a:xfrm>
          <a:prstGeom prst="roundRect">
            <a:avLst/>
          </a:prstGeom>
          <a:solidFill>
            <a:srgbClr val="F0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CAPACIDADE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(Capability)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904" y="4460965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999999"/>
                </a:solidFill>
              </a:defRPr>
            </a:pPr>
            <a:r>
              <a:rPr dirty="0"/>
              <a:t>• Ferramentas e </a:t>
            </a:r>
            <a:r>
              <a:rPr dirty="0" err="1"/>
              <a:t>técnicas</a:t>
            </a:r>
            <a:endParaRPr dirty="0"/>
          </a:p>
          <a:p>
            <a:pPr>
              <a:defRPr sz="1100">
                <a:solidFill>
                  <a:srgbClr val="999999"/>
                </a:solidFill>
              </a:defRPr>
            </a:pPr>
            <a:r>
              <a:rPr dirty="0"/>
              <a:t>• Malware, exploit, script</a:t>
            </a:r>
          </a:p>
          <a:p>
            <a:pPr>
              <a:defRPr sz="1100">
                <a:solidFill>
                  <a:srgbClr val="999999"/>
                </a:solidFill>
              </a:defRPr>
            </a:pPr>
            <a:r>
              <a:rPr dirty="0"/>
              <a:t>• </a:t>
            </a:r>
            <a:r>
              <a:rPr dirty="0" err="1"/>
              <a:t>Engenharia</a:t>
            </a:r>
            <a:r>
              <a:rPr dirty="0"/>
              <a:t> social, </a:t>
            </a:r>
            <a:r>
              <a:rPr dirty="0" err="1"/>
              <a:t>força</a:t>
            </a:r>
            <a:r>
              <a:rPr dirty="0"/>
              <a:t> </a:t>
            </a:r>
            <a:r>
              <a:rPr dirty="0" err="1"/>
              <a:t>bruta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724704" y="5029200"/>
            <a:ext cx="2743200" cy="1097280"/>
          </a:xfrm>
          <a:prstGeom prst="roundRect">
            <a:avLst/>
          </a:prstGeom>
          <a:solidFill>
            <a:srgbClr val="4DC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VÍTIMA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(Victim)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6752" y="6159137"/>
            <a:ext cx="5790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99999"/>
                </a:solidFill>
              </a:defRPr>
            </a:pPr>
            <a:r>
              <a:rPr dirty="0"/>
              <a:t>• </a:t>
            </a:r>
            <a:r>
              <a:rPr dirty="0" err="1"/>
              <a:t>Quem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afetado</a:t>
            </a:r>
            <a:r>
              <a:rPr dirty="0"/>
              <a:t>? </a:t>
            </a:r>
            <a:r>
              <a:rPr dirty="0" err="1"/>
              <a:t>Usuário</a:t>
            </a:r>
            <a:r>
              <a:rPr dirty="0"/>
              <a:t>, </a:t>
            </a:r>
            <a:r>
              <a:rPr dirty="0" err="1"/>
              <a:t>sistema</a:t>
            </a:r>
            <a:r>
              <a:rPr dirty="0"/>
              <a:t>, </a:t>
            </a:r>
            <a:r>
              <a:rPr dirty="0" err="1"/>
              <a:t>departamento</a:t>
            </a:r>
            <a:r>
              <a:rPr dirty="0"/>
              <a:t>, </a:t>
            </a:r>
            <a:r>
              <a:rPr dirty="0" err="1"/>
              <a:t>organização</a:t>
            </a:r>
            <a:r>
              <a:rPr dirty="0"/>
              <a:t>, dados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53504" y="2468880"/>
            <a:ext cx="3809391" cy="73152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828800" y="2468880"/>
            <a:ext cx="3810304" cy="73152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28800" y="4297680"/>
            <a:ext cx="2895904" cy="73152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467904" y="4297680"/>
            <a:ext cx="2894991" cy="731520"/>
          </a:xfrm>
          <a:prstGeom prst="line">
            <a:avLst/>
          </a:prstGeom>
          <a:ln w="190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43799" y="2560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CC0000"/>
                </a:solidFill>
              </a:defRPr>
            </a:pPr>
            <a:r>
              <a:rPr dirty="0"/>
              <a:t>USA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5448" y="2606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CC0000"/>
                </a:solidFill>
              </a:defRPr>
            </a:pPr>
            <a:r>
              <a:rPr dirty="0"/>
              <a:t>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441371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B5C8A"/>
                </a:solidFill>
              </a:defRPr>
            </a:pPr>
            <a:r>
              <a:rPr dirty="0"/>
              <a:t>CONECTA-SE 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599" y="451321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B5C8A"/>
                </a:solidFill>
              </a:defRPr>
            </a:pPr>
            <a:r>
              <a:rPr dirty="0"/>
              <a:t>CONECTA-SE 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7173" y="475488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9933CC"/>
                </a:solidFill>
              </a:defRPr>
            </a:pPr>
            <a:r>
              <a:rPr dirty="0"/>
              <a:t>MIRA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7174" y="2468880"/>
            <a:ext cx="2133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9933CC"/>
                </a:solidFill>
              </a:defRPr>
            </a:pPr>
            <a:r>
              <a:rPr dirty="0"/>
              <a:t>SUPORTA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02" y="6091331"/>
            <a:ext cx="340830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rPr b="1" dirty="0"/>
              <a:t>Meta-</a:t>
            </a:r>
            <a:r>
              <a:rPr b="1" dirty="0" err="1"/>
              <a:t>relações</a:t>
            </a:r>
            <a:r>
              <a:rPr b="1" dirty="0"/>
              <a:t>: </a:t>
            </a:r>
            <a:endParaRPr lang="pt-BR" b="1" dirty="0"/>
          </a:p>
          <a:p>
            <a:pPr>
              <a:defRPr sz="1000">
                <a:solidFill>
                  <a:srgbClr val="999999"/>
                </a:solidFill>
              </a:defRPr>
            </a:pPr>
            <a:endParaRPr lang="pt-BR" dirty="0">
              <a:solidFill>
                <a:srgbClr val="FF0000"/>
              </a:solidFill>
            </a:endParaRPr>
          </a:p>
          <a:p>
            <a:pPr>
              <a:defRPr sz="1000">
                <a:solidFill>
                  <a:srgbClr val="999999"/>
                </a:solidFill>
              </a:defRPr>
            </a:pPr>
            <a:r>
              <a:rPr dirty="0" err="1">
                <a:solidFill>
                  <a:srgbClr val="FF0000"/>
                </a:solidFill>
              </a:rPr>
              <a:t>Adversário</a:t>
            </a:r>
            <a:r>
              <a:rPr dirty="0">
                <a:solidFill>
                  <a:srgbClr val="FF0000"/>
                </a:solidFill>
              </a:rPr>
              <a:t> MIRA a </a:t>
            </a:r>
            <a:r>
              <a:rPr dirty="0" err="1">
                <a:solidFill>
                  <a:srgbClr val="FF0000"/>
                </a:solidFill>
              </a:rPr>
              <a:t>Vítima</a:t>
            </a:r>
            <a:r>
              <a:rPr dirty="0">
                <a:solidFill>
                  <a:srgbClr val="FF0000"/>
                </a:solidFill>
              </a:rPr>
              <a:t> (</a:t>
            </a:r>
            <a:r>
              <a:rPr dirty="0" err="1">
                <a:solidFill>
                  <a:srgbClr val="FF0000"/>
                </a:solidFill>
              </a:rPr>
              <a:t>por</a:t>
            </a:r>
            <a:r>
              <a:rPr dirty="0">
                <a:solidFill>
                  <a:srgbClr val="FF0000"/>
                </a:solidFill>
              </a:rPr>
              <a:t> que </a:t>
            </a:r>
            <a:r>
              <a:rPr dirty="0" err="1">
                <a:solidFill>
                  <a:srgbClr val="FF0000"/>
                </a:solidFill>
              </a:rPr>
              <a:t>este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alvo</a:t>
            </a:r>
            <a:r>
              <a:rPr dirty="0">
                <a:solidFill>
                  <a:srgbClr val="FF0000"/>
                </a:solidFill>
              </a:rPr>
              <a:t>?)</a:t>
            </a:r>
            <a:endParaRPr lang="pt-BR" dirty="0">
              <a:solidFill>
                <a:srgbClr val="FF0000"/>
              </a:solidFill>
            </a:endParaRPr>
          </a:p>
          <a:p>
            <a:pPr>
              <a:defRPr sz="1000">
                <a:solidFill>
                  <a:srgbClr val="999999"/>
                </a:solidFill>
              </a:defRPr>
            </a:pPr>
            <a:r>
              <a:rPr dirty="0" err="1">
                <a:solidFill>
                  <a:srgbClr val="FF0000"/>
                </a:solidFill>
              </a:rPr>
              <a:t>Infraestrutura</a:t>
            </a:r>
            <a:r>
              <a:rPr dirty="0">
                <a:solidFill>
                  <a:srgbClr val="FF0000"/>
                </a:solidFill>
              </a:rPr>
              <a:t> SUPORTA a </a:t>
            </a:r>
            <a:r>
              <a:rPr dirty="0" err="1">
                <a:solidFill>
                  <a:srgbClr val="FF0000"/>
                </a:solidFill>
              </a:rPr>
              <a:t>Capacidade</a:t>
            </a:r>
            <a:r>
              <a:rPr dirty="0">
                <a:solidFill>
                  <a:srgbClr val="FF0000"/>
                </a:solidFill>
              </a:rPr>
              <a:t> (C2 serve </a:t>
            </a:r>
            <a:r>
              <a:rPr dirty="0" err="1">
                <a:solidFill>
                  <a:srgbClr val="FF0000"/>
                </a:solidFill>
              </a:rPr>
              <a:t>ao</a:t>
            </a:r>
            <a:r>
              <a:rPr dirty="0">
                <a:solidFill>
                  <a:srgbClr val="FF0000"/>
                </a:solidFill>
              </a:rPr>
              <a:t> malware?)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168</Words>
  <Application>Microsoft Office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Fernando Luis de Oliveira Costa</cp:lastModifiedBy>
  <cp:revision>2</cp:revision>
  <dcterms:created xsi:type="dcterms:W3CDTF">2013-01-27T09:14:16Z</dcterms:created>
  <dcterms:modified xsi:type="dcterms:W3CDTF">2026-07-10T19:31:55Z</dcterms:modified>
  <cp:category/>
</cp:coreProperties>
</file>